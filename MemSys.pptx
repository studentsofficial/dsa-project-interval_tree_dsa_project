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4660"/>
  </p:normalViewPr>
  <p:slideViewPr>
    <p:cSldViewPr snapToGrid="0">
      <p:cViewPr>
        <p:scale>
          <a:sx n="66" d="100"/>
          <a:sy n="66" d="100"/>
        </p:scale>
        <p:origin x="784" y="-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6360B-131C-86E3-3A1B-AD17EEB29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A47E81-CE11-6279-0734-B13AF0194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51CCF-B3C4-387D-F72F-CB5621005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88BF-4CF0-4304-85C4-273DEFB74E78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F77D7-A748-3F64-5C8E-DBDD9F4B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DEB26-2971-5328-CEE7-BAD4D817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3405-3023-4AAE-AFAB-D1F4DD4300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395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35199-6D98-E5C7-9DE4-3061C70C0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5C1AC-C096-E448-4B9E-B11A71C52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62753-5FF3-40D7-D36B-75D955D14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88BF-4CF0-4304-85C4-273DEFB74E78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53C16-9977-5514-12E2-1B5FC148E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8A622-BE11-3000-2875-592F687F9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3405-3023-4AAE-AFAB-D1F4DD4300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34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BCBDB-5680-FA3C-2687-BAE7F618C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6AED2-4420-69E1-3D5F-F2CA6C408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786A1-BBE0-2422-41C7-CDE709731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88BF-4CF0-4304-85C4-273DEFB74E78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62411-6C1F-52C7-0B93-CFA093D30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79C58-84C1-1413-5301-33CABE10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3405-3023-4AAE-AFAB-D1F4DD4300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169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8FE64-F499-711F-5EC4-DA6C563C5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5ED8E-D095-B9D4-1D31-45BFDB4315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C858AF-061E-A178-E804-4185D227F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DE24A-CEA4-E393-4B4F-08D57BEBA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88BF-4CF0-4304-85C4-273DEFB74E78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D9229E-671D-3769-6932-43CE8E3B5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F9164-BC34-2658-3CD1-9DB79FB8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3405-3023-4AAE-AFAB-D1F4DD4300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156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8252A-771C-3523-8049-63D482C69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8F547-2B5C-7A9E-5540-E5508051B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F92CD1-9098-8F92-73EE-9DB65B808A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ADCD6F-E397-5734-103E-143F4165FF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32BFDD-21B0-B3E8-D119-E181E06B90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D102FA-E908-2F7E-23E6-A9701E1C4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88BF-4CF0-4304-85C4-273DEFB74E78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0AE788-26F9-D60F-7193-8E6219B76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A1560A-AEE9-4CB2-05E9-443DF73DF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3405-3023-4AAE-AFAB-D1F4DD4300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042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81668-716C-F611-5361-0C129C841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ACDC42-508F-3B8C-31EE-B1A775907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88BF-4CF0-4304-85C4-273DEFB74E78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AC862-6C66-87D4-409E-602971E9A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21122A-C493-E074-9D2F-59FFA6409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3405-3023-4AAE-AFAB-D1F4DD4300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788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6DBDDC-1DD6-E964-C0E4-FDFDCC2D2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88BF-4CF0-4304-85C4-273DEFB74E78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AC35B0-E47F-9EBA-F32D-3BAD42C88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5C9DB-DBA8-2C46-B030-AEE2EC30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3405-3023-4AAE-AFAB-D1F4DD4300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5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E66E5-9A80-6B7A-8BF5-1693C0209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13E12-9F1B-0722-C1D6-E734DC9C8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5B0712-533B-9B50-4FAA-51D67BC7F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56E311-EBF8-7C0D-353E-C549E5EE2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88BF-4CF0-4304-85C4-273DEFB74E78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1229F-ABB4-C2BD-CC25-C41B17177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DEE229-1651-1D4A-55CD-B946475D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3405-3023-4AAE-AFAB-D1F4DD4300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821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C073B-5485-747B-E887-67004C135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8AB3B2-E6E6-251F-41AC-9714DF9DE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7CF3D-3BA8-68C9-44C0-EAD8FD6B9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BA92B-54CA-3C4B-A777-238E54EAE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88BF-4CF0-4304-85C4-273DEFB74E78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C8A0A-71A5-CBC9-F2CA-18E8B2F27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B74DA9-50CF-DA0E-9802-424D7A88E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3405-3023-4AAE-AFAB-D1F4DD4300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036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6C7B5-BC7C-B12E-3C28-79106C2C7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535285-2218-F6B1-ECDF-32F3C3F25F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96C99-9E13-C975-E0FC-7EB5B0481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88BF-4CF0-4304-85C4-273DEFB74E78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ADDD6-98DD-7A56-3D64-39792AB19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0D3A9-F8F6-BEE9-5BDE-C605591DD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3405-3023-4AAE-AFAB-D1F4DD4300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375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DF276A-9789-1CB9-3833-B9EF491E02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B9DCA7-8622-7DE2-D3FA-EFAA7AAB8D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046CB-2541-C3AA-D26E-213B452B5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088BF-4CF0-4304-85C4-273DEFB74E78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8DDAF-C37A-C70C-128D-49A974FCC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57178-699F-1C75-98BC-82089DA3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3405-3023-4AAE-AFAB-D1F4DD4300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022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14BFE0-6850-E24C-813D-6A456B090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3FF98-B6CA-09C6-3DDD-0043FBB2F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4BF5F-CD16-0935-1921-8419EDF2A4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3088BF-4CF0-4304-85C4-273DEFB74E78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6A879-462B-3C9B-C8F7-BDE384A93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2FFC8-9BA2-50A5-4E05-79761083C9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ED3405-3023-4AAE-AFAB-D1F4DD4300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678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07EE3-F024-C13C-9AF7-58B3EAF9E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5100" y="3857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MemSys</a:t>
            </a:r>
            <a:r>
              <a:rPr lang="en-US" dirty="0"/>
              <a:t>: Interval Tree Powered Memory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C8C73F-E276-C338-9D85-F0BC0731A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522603" y="3309415"/>
            <a:ext cx="11052132" cy="2387599"/>
          </a:xfrm>
        </p:spPr>
        <p:txBody>
          <a:bodyPr>
            <a:normAutofit/>
          </a:bodyPr>
          <a:lstStyle/>
          <a:p>
            <a:r>
              <a:rPr lang="en-US" sz="1800" dirty="0"/>
              <a:t>DONE BY :</a:t>
            </a:r>
          </a:p>
          <a:p>
            <a:r>
              <a:rPr lang="en-US" sz="1800" dirty="0"/>
              <a:t>AVANTHIK C CB.SC.U4CYS24109</a:t>
            </a:r>
          </a:p>
          <a:p>
            <a:r>
              <a:rPr lang="en-US" sz="1800" dirty="0"/>
              <a:t>MANUKRISHNA JP CB.SC.U4CYS24132</a:t>
            </a:r>
          </a:p>
          <a:p>
            <a:r>
              <a:rPr lang="en-US" sz="1800" dirty="0"/>
              <a:t>SREEHARI PRADEESH CB.SC.U4CYS24150</a:t>
            </a:r>
          </a:p>
          <a:p>
            <a:r>
              <a:rPr lang="en-US" sz="1800" dirty="0"/>
              <a:t>A AL AMEEN CB.SC.U4CYS24163</a:t>
            </a:r>
          </a:p>
          <a:p>
            <a:r>
              <a:rPr lang="en-US" sz="1800" dirty="0"/>
              <a:t>YUG AGARWAL CB.SC.U4CYS24167</a:t>
            </a:r>
          </a:p>
          <a:p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18063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5519F-0525-C54F-1990-0D7C81EC4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A23FD-06BC-BE63-7DB8-F639F66FC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Memory Allocation Conflicts</a:t>
            </a:r>
            <a:endParaRPr lang="en-US" dirty="0"/>
          </a:p>
          <a:p>
            <a:r>
              <a:rPr lang="en-US" dirty="0"/>
              <a:t>In operating systems, multiple processes request memory simultaneously.</a:t>
            </a:r>
          </a:p>
          <a:p>
            <a:pPr marL="0" indent="0">
              <a:buNone/>
            </a:pPr>
            <a:r>
              <a:rPr lang="en-US" b="1" dirty="0"/>
              <a:t>Problems that may occur:</a:t>
            </a:r>
          </a:p>
          <a:p>
            <a:r>
              <a:rPr lang="en-US" dirty="0"/>
              <a:t>Two processes may request overlapping memory regions</a:t>
            </a:r>
          </a:p>
          <a:p>
            <a:r>
              <a:rPr lang="en-US" dirty="0"/>
              <a:t>Manual tracking becomes inefficient</a:t>
            </a:r>
          </a:p>
          <a:p>
            <a:r>
              <a:rPr lang="en-US" dirty="0"/>
              <a:t>Requirement for fast conflict detection</a:t>
            </a:r>
          </a:p>
          <a:p>
            <a:pPr marL="0" indent="0">
              <a:buNone/>
            </a:pPr>
            <a:r>
              <a:rPr lang="en-US" b="1" dirty="0"/>
              <a:t>Goal of the project:</a:t>
            </a:r>
          </a:p>
          <a:p>
            <a:r>
              <a:rPr lang="en-US" dirty="0"/>
              <a:t>A system that allocates memory safely</a:t>
            </a:r>
          </a:p>
          <a:p>
            <a:r>
              <a:rPr lang="en-US" dirty="0"/>
              <a:t>Detects overlapping intervals instantly</a:t>
            </a:r>
          </a:p>
          <a:p>
            <a:r>
              <a:rPr lang="en-US" dirty="0"/>
              <a:t>Visualizes memory allocation in real time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080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E5C72-7ADD-BA0F-AF26-5D05FD528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Interval Tree?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A3DFE-4E2D-598F-A7A5-FCD4E2D32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Interval Tree</a:t>
            </a:r>
            <a:endParaRPr lang="en-US" dirty="0"/>
          </a:p>
          <a:p>
            <a:r>
              <a:rPr lang="en-US" dirty="0"/>
              <a:t>An Interval Tree is a Binary Search Tree designed to store intervals.</a:t>
            </a:r>
          </a:p>
          <a:p>
            <a:r>
              <a:rPr lang="en-US" dirty="0"/>
              <a:t>Each node stores ; Interval [low, high]</a:t>
            </a:r>
          </a:p>
          <a:p>
            <a:r>
              <a:rPr lang="en-US" dirty="0"/>
              <a:t>max value (maximum high value in subtree)</a:t>
            </a:r>
          </a:p>
          <a:p>
            <a:pPr marL="0" indent="0">
              <a:buNone/>
            </a:pPr>
            <a:r>
              <a:rPr lang="en-US" b="1" dirty="0"/>
              <a:t>Purpose:</a:t>
            </a:r>
          </a:p>
          <a:p>
            <a:r>
              <a:rPr lang="en-US" dirty="0"/>
              <a:t>Efficiently detect overlapping intervals</a:t>
            </a:r>
          </a:p>
          <a:p>
            <a:r>
              <a:rPr lang="en-US" dirty="0"/>
              <a:t>Application:</a:t>
            </a:r>
          </a:p>
          <a:p>
            <a:r>
              <a:rPr lang="en-US" dirty="0"/>
              <a:t>Operating systems</a:t>
            </a:r>
          </a:p>
          <a:p>
            <a:r>
              <a:rPr lang="en-US" dirty="0"/>
              <a:t>Computational geometry</a:t>
            </a:r>
          </a:p>
          <a:p>
            <a:r>
              <a:rPr lang="en-US" dirty="0"/>
              <a:t>Scheduling systems</a:t>
            </a:r>
          </a:p>
          <a:p>
            <a:r>
              <a:rPr lang="en-US" dirty="0"/>
              <a:t>Database indexing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869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18B93-5502-2615-5EE0-0746BEF9C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Interval Overlap Condition</a:t>
            </a:r>
            <a:br>
              <a:rPr lang="en-US" b="1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795247-7ECF-F63D-C46E-4866B97C47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latin typeface="Aptos (Body)"/>
                  </a:rPr>
                  <a:t>Interval Overlap Condition</a:t>
                </a:r>
              </a:p>
              <a:p>
                <a:r>
                  <a:rPr lang="en-US" dirty="0">
                    <a:latin typeface="Aptos (Body)"/>
                  </a:rPr>
                  <a:t>Two intervals overlap if: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Aptos (Body)"/>
                      </a:rPr>
                      <m:t>A</m:t>
                    </m:r>
                    <m:r>
                      <a:rPr lang="en-US" i="0">
                        <a:latin typeface="Aptos (Body)"/>
                      </a:rPr>
                      <m:t>.</m:t>
                    </m:r>
                    <m:r>
                      <m:rPr>
                        <m:sty m:val="p"/>
                      </m:rPr>
                      <a:rPr lang="en-US" i="0">
                        <a:latin typeface="Aptos (Body)"/>
                      </a:rPr>
                      <m:t>low</m:t>
                    </m:r>
                    <m:r>
                      <a:rPr lang="en-US" i="0">
                        <a:latin typeface="Aptos (Body)"/>
                      </a:rPr>
                      <m:t>≤</m:t>
                    </m:r>
                    <m:r>
                      <m:rPr>
                        <m:sty m:val="p"/>
                      </m:rPr>
                      <a:rPr lang="en-US" i="0">
                        <a:latin typeface="Aptos (Body)"/>
                      </a:rPr>
                      <m:t>B</m:t>
                    </m:r>
                    <m:r>
                      <a:rPr lang="en-US" i="0">
                        <a:latin typeface="Aptos (Body)"/>
                      </a:rPr>
                      <m:t>.</m:t>
                    </m:r>
                    <m:r>
                      <m:rPr>
                        <m:sty m:val="p"/>
                      </m:rPr>
                      <a:rPr lang="en-US" i="0">
                        <a:latin typeface="Aptos (Body)"/>
                      </a:rPr>
                      <m:t>high</m:t>
                    </m:r>
                    <m:r>
                      <a:rPr lang="en-US" i="0">
                        <a:latin typeface="Aptos (Body)"/>
                      </a:rPr>
                      <m:t> </m:t>
                    </m:r>
                    <m:r>
                      <m:rPr>
                        <m:sty m:val="p"/>
                      </m:rPr>
                      <a:rPr lang="en-US" i="0">
                        <a:latin typeface="Aptos (Body)"/>
                      </a:rPr>
                      <m:t>AND</m:t>
                    </m:r>
                    <m:r>
                      <a:rPr lang="en-US" i="0">
                        <a:latin typeface="Aptos (Body)"/>
                      </a:rPr>
                      <m:t> </m:t>
                    </m:r>
                    <m:r>
                      <m:rPr>
                        <m:sty m:val="p"/>
                      </m:rPr>
                      <a:rPr lang="en-US" i="0">
                        <a:latin typeface="Aptos (Body)"/>
                      </a:rPr>
                      <m:t>A</m:t>
                    </m:r>
                    <m:r>
                      <a:rPr lang="en-US" i="0">
                        <a:latin typeface="Aptos (Body)"/>
                      </a:rPr>
                      <m:t>.</m:t>
                    </m:r>
                    <m:r>
                      <m:rPr>
                        <m:sty m:val="p"/>
                      </m:rPr>
                      <a:rPr lang="en-US" i="0">
                        <a:latin typeface="Aptos (Body)"/>
                      </a:rPr>
                      <m:t>high</m:t>
                    </m:r>
                    <m:r>
                      <a:rPr lang="en-US" i="0">
                        <a:latin typeface="Aptos (Body)"/>
                      </a:rPr>
                      <m:t>≥</m:t>
                    </m:r>
                    <m:r>
                      <m:rPr>
                        <m:sty m:val="p"/>
                      </m:rPr>
                      <a:rPr lang="en-US" i="0">
                        <a:latin typeface="Aptos (Body)"/>
                      </a:rPr>
                      <m:t>B</m:t>
                    </m:r>
                    <m:r>
                      <a:rPr lang="en-US" i="0">
                        <a:latin typeface="Aptos (Body)"/>
                      </a:rPr>
                      <m:t>.</m:t>
                    </m:r>
                    <m:r>
                      <m:rPr>
                        <m:sty m:val="p"/>
                      </m:rPr>
                      <a:rPr lang="en-US" i="0">
                        <a:latin typeface="Aptos (Body)"/>
                      </a:rPr>
                      <m:t>low</m:t>
                    </m:r>
                  </m:oMath>
                </a14:m>
                <a:endParaRPr lang="en-US" dirty="0">
                  <a:latin typeface="Aptos (Body)"/>
                </a:endParaRPr>
              </a:p>
              <a:p>
                <a:r>
                  <a:rPr lang="en-US" dirty="0">
                    <a:latin typeface="Aptos (Body)"/>
                  </a:rPr>
                  <a:t>Eg : Process P1 : [1000 , 1500]</a:t>
                </a:r>
                <a:br>
                  <a:rPr lang="en-US" dirty="0">
                    <a:latin typeface="Aptos (Body)"/>
                  </a:rPr>
                </a:br>
                <a:r>
                  <a:rPr lang="en-US" dirty="0">
                    <a:latin typeface="Aptos (Body)"/>
                  </a:rPr>
                  <a:t>   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Aptos (Body)"/>
                  </a:rPr>
                  <a:t>        Process P2 : [1400 , 1800]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Aptos (Body)"/>
                  </a:rPr>
                  <a:t>       These intervals overlap.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Aptos (Body)"/>
                  </a:rPr>
                  <a:t>       Therefore allocation is rejected.</a:t>
                </a:r>
              </a:p>
              <a:p>
                <a:endParaRPr lang="en-US" dirty="0">
                  <a:latin typeface="Aptos (Body)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795247-7ECF-F63D-C46E-4866B97C47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8435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206CD-7D12-1255-09AF-612A35B0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System Architecture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A13B2-9DFF-99E7-359B-A9C78F381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Components</a:t>
            </a:r>
          </a:p>
          <a:p>
            <a:r>
              <a:rPr lang="en-US" b="1" dirty="0"/>
              <a:t>Frontend</a:t>
            </a:r>
            <a:endParaRPr lang="en-US" dirty="0"/>
          </a:p>
          <a:p>
            <a:r>
              <a:rPr lang="en-US" dirty="0"/>
              <a:t>HTML</a:t>
            </a:r>
          </a:p>
          <a:p>
            <a:r>
              <a:rPr lang="en-US" dirty="0"/>
              <a:t>CSS</a:t>
            </a:r>
          </a:p>
          <a:p>
            <a:r>
              <a:rPr lang="en-US" dirty="0"/>
              <a:t>JavaScript</a:t>
            </a:r>
          </a:p>
          <a:p>
            <a:pPr marL="0" indent="0">
              <a:buNone/>
            </a:pPr>
            <a:r>
              <a:rPr lang="en-US" b="1" dirty="0"/>
              <a:t>Backend</a:t>
            </a:r>
            <a:endParaRPr lang="en-US" dirty="0"/>
          </a:p>
          <a:p>
            <a:r>
              <a:rPr lang="en-US" dirty="0"/>
              <a:t>Flask API</a:t>
            </a:r>
          </a:p>
          <a:p>
            <a:r>
              <a:rPr lang="en-US" dirty="0"/>
              <a:t>Handles requests from UI</a:t>
            </a:r>
          </a:p>
          <a:p>
            <a:r>
              <a:rPr lang="en-US" dirty="0"/>
              <a:t>Communicates with C++ using subprocess calls</a:t>
            </a:r>
          </a:p>
          <a:p>
            <a:pPr marL="0" indent="0">
              <a:buNone/>
            </a:pPr>
            <a:r>
              <a:rPr lang="en-US" b="1" dirty="0"/>
              <a:t>Core Logic</a:t>
            </a:r>
            <a:endParaRPr lang="en-US" dirty="0"/>
          </a:p>
          <a:p>
            <a:r>
              <a:rPr lang="en-US" dirty="0"/>
              <a:t>C++ Interval Tree</a:t>
            </a:r>
          </a:p>
          <a:p>
            <a:r>
              <a:rPr lang="en-US" dirty="0"/>
              <a:t>Performs fast overlap detection</a:t>
            </a:r>
          </a:p>
          <a:p>
            <a:pPr marL="0" indent="0">
              <a:buNone/>
            </a:pPr>
            <a:r>
              <a:rPr lang="en-US" b="1" dirty="0"/>
              <a:t>Data Storage</a:t>
            </a:r>
            <a:endParaRPr lang="en-US" dirty="0"/>
          </a:p>
          <a:p>
            <a:r>
              <a:rPr lang="en-US" dirty="0"/>
              <a:t>Database stores allocated memory intervals</a:t>
            </a:r>
          </a:p>
          <a:p>
            <a:r>
              <a:rPr lang="en-US" dirty="0"/>
              <a:t>Ensures persistent records</a:t>
            </a:r>
          </a:p>
        </p:txBody>
      </p:sp>
    </p:spTree>
    <p:extLst>
      <p:ext uri="{BB962C8B-B14F-4D97-AF65-F5344CB8AC3E}">
        <p14:creationId xmlns:p14="http://schemas.microsoft.com/office/powerpoint/2010/main" val="3964815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F1923-79C5-F720-57D0-F12C9E966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Backend &amp; Database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29243-AA8C-61F5-629C-7774F60A0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backend is built using Flask (Python) which connects the frontend and the C++ interval tree.</a:t>
            </a:r>
          </a:p>
          <a:p>
            <a:r>
              <a:rPr lang="en-US" dirty="0"/>
              <a:t>Backend responsibilities:</a:t>
            </a:r>
          </a:p>
          <a:p>
            <a:r>
              <a:rPr lang="en-US" dirty="0"/>
              <a:t>Receive memory allocation requests from the UI</a:t>
            </a:r>
          </a:p>
          <a:p>
            <a:r>
              <a:rPr lang="en-US" dirty="0"/>
              <a:t>Call the C++ interval tree to check for overlaps</a:t>
            </a:r>
          </a:p>
          <a:p>
            <a:r>
              <a:rPr lang="en-US" dirty="0"/>
              <a:t>Store successful allocations in a database using Python</a:t>
            </a:r>
          </a:p>
          <a:p>
            <a:r>
              <a:rPr lang="en-US" dirty="0"/>
              <a:t>Return the result to the frontend</a:t>
            </a:r>
          </a:p>
          <a:p>
            <a:pPr marL="0" indent="0">
              <a:buNone/>
            </a:pPr>
            <a:r>
              <a:rPr lang="en-US" b="1" dirty="0"/>
              <a:t>Database Stores </a:t>
            </a:r>
            <a:endParaRPr lang="en-US" dirty="0"/>
          </a:p>
          <a:p>
            <a:r>
              <a:rPr lang="en-US" dirty="0"/>
              <a:t>Process ID , Start Address , End Address , Allocation Size</a:t>
            </a:r>
          </a:p>
          <a:p>
            <a:pPr marL="0" indent="0">
              <a:buNone/>
            </a:pPr>
            <a:r>
              <a:rPr lang="en-US" b="1" dirty="0"/>
              <a:t>Purpose</a:t>
            </a:r>
            <a:endParaRPr lang="en-US" dirty="0"/>
          </a:p>
          <a:p>
            <a:r>
              <a:rPr lang="en-US" dirty="0"/>
              <a:t>Maintain persistent records</a:t>
            </a:r>
          </a:p>
          <a:p>
            <a:r>
              <a:rPr lang="en-US" dirty="0"/>
              <a:t>Allow easy retrieval of allocations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823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DF313-2FEA-2EA7-95E8-D5C202BC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Workflow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ADF45-BD20-1CDA-CED2-C61831250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How the System Works</a:t>
            </a:r>
            <a:endParaRPr lang="en-US" dirty="0"/>
          </a:p>
          <a:p>
            <a:r>
              <a:rPr lang="en-US" dirty="0"/>
              <a:t>User enters:</a:t>
            </a:r>
          </a:p>
          <a:p>
            <a:pPr lvl="1"/>
            <a:r>
              <a:rPr lang="en-US" dirty="0"/>
              <a:t>Start address</a:t>
            </a:r>
          </a:p>
          <a:p>
            <a:pPr lvl="1"/>
            <a:r>
              <a:rPr lang="en-US" dirty="0"/>
              <a:t>Offset (size)</a:t>
            </a:r>
          </a:p>
          <a:p>
            <a:pPr lvl="1"/>
            <a:r>
              <a:rPr lang="en-US" dirty="0"/>
              <a:t>Process ID</a:t>
            </a:r>
          </a:p>
          <a:p>
            <a:r>
              <a:rPr lang="en-US" dirty="0"/>
              <a:t>Request sent to Flask API</a:t>
            </a:r>
          </a:p>
          <a:p>
            <a:r>
              <a:rPr lang="en-US" dirty="0"/>
              <a:t>Flask calls C++ interval tree</a:t>
            </a:r>
          </a:p>
          <a:p>
            <a:r>
              <a:rPr lang="en-US" dirty="0"/>
              <a:t>Tree checks for overlap</a:t>
            </a:r>
          </a:p>
          <a:p>
            <a:r>
              <a:rPr lang="en-US" dirty="0"/>
              <a:t>Result returned to UI</a:t>
            </a:r>
          </a:p>
          <a:p>
            <a:r>
              <a:rPr lang="en-US" dirty="0"/>
              <a:t>If no conflict → allocation succeeds</a:t>
            </a:r>
          </a:p>
          <a:p>
            <a:r>
              <a:rPr lang="en-US" dirty="0"/>
              <a:t>If conflict → request rejected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149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FD6D3-46EE-DD66-8610-327D10C5A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41F87AF5-C849-0BB9-BE3B-F6153C74AC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7630905"/>
              </p:ext>
            </p:extLst>
          </p:nvPr>
        </p:nvGraphicFramePr>
        <p:xfrm>
          <a:off x="838200" y="183832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29232981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266449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6618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Insert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O(log 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296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O(log 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366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Overlap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O(log 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478651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DCD3660-8104-479A-5C22-1C3C19D11577}"/>
              </a:ext>
            </a:extLst>
          </p:cNvPr>
          <p:cNvSpPr txBox="1"/>
          <p:nvPr/>
        </p:nvSpPr>
        <p:spPr>
          <a:xfrm>
            <a:off x="838200" y="36507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Worst case can be </a:t>
            </a:r>
            <a:r>
              <a:rPr lang="en-US" b="1" dirty="0"/>
              <a:t>O(n)</a:t>
            </a:r>
            <a:r>
              <a:rPr lang="en-US" dirty="0"/>
              <a:t> since tree is not self-balancing.</a:t>
            </a:r>
          </a:p>
        </p:txBody>
      </p:sp>
    </p:spTree>
    <p:extLst>
      <p:ext uri="{BB962C8B-B14F-4D97-AF65-F5344CB8AC3E}">
        <p14:creationId xmlns:p14="http://schemas.microsoft.com/office/powerpoint/2010/main" val="3922066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E8AA1-950C-2E90-AB09-04802EEF1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of </a:t>
            </a:r>
            <a:r>
              <a:rPr lang="en-US" dirty="0" err="1"/>
              <a:t>MemSys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660FD6-ED7A-9A2F-5948-F22C40CFA0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8500" y="1720840"/>
            <a:ext cx="1022106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Interval Tree based overlap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Real time memory visualization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Process based memory allocation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Persistent state storage using 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Easy free memory operation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(Body)"/>
              </a:rPr>
              <a:t>Conflict detection with exact process information</a:t>
            </a:r>
          </a:p>
        </p:txBody>
      </p:sp>
    </p:spTree>
    <p:extLst>
      <p:ext uri="{BB962C8B-B14F-4D97-AF65-F5344CB8AC3E}">
        <p14:creationId xmlns:p14="http://schemas.microsoft.com/office/powerpoint/2010/main" val="3556586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3E1C9-D84E-F0B6-9092-C48DEDAA4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6881"/>
            <a:ext cx="10515600" cy="1325563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3F272-1A0A-A89A-1147-1AE6542FE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2444"/>
            <a:ext cx="10515600" cy="4351338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 err="1">
                <a:latin typeface="Aptos (Body)"/>
              </a:rPr>
              <a:t>MemSys</a:t>
            </a:r>
            <a:r>
              <a:rPr lang="en-US" dirty="0">
                <a:latin typeface="Aptos (Body)"/>
              </a:rPr>
              <a:t> demonstrates how Data Structures solve real-world problems.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ptos (Body)"/>
              </a:rPr>
              <a:t>Interval Trees efficiently detect overlapping memory regions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ptos (Body)"/>
              </a:rPr>
              <a:t>Combining C++ + Flask + Web UI creates a practical system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ptos (Body)"/>
              </a:rPr>
              <a:t>Shows how DSA concepts integrate into full stack applications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>
              <a:latin typeface="Aptos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>
              <a:latin typeface="Aptos (Body)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ptos (Body)"/>
            </a:endParaRPr>
          </a:p>
          <a:p>
            <a:endParaRPr lang="en-US" dirty="0">
              <a:latin typeface="Aptos (Body)"/>
            </a:endParaRPr>
          </a:p>
          <a:p>
            <a:pPr marL="0" indent="0">
              <a:buNone/>
            </a:pPr>
            <a:endParaRPr lang="en-US" dirty="0">
              <a:latin typeface="Aptos (Body)"/>
            </a:endParaRPr>
          </a:p>
          <a:p>
            <a:endParaRPr lang="en-US" dirty="0">
              <a:latin typeface="Aptos (Body)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1A6BE1A-59BB-A2D2-E204-76309A6B9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C++ (core logic) + Flask (backend) + Database + Web UI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 a complete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321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517</Words>
  <Application>Microsoft Office PowerPoint</Application>
  <PresentationFormat>Widescreen</PresentationFormat>
  <Paragraphs>105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(Body)</vt:lpstr>
      <vt:lpstr>Aptos Display</vt:lpstr>
      <vt:lpstr>Arial</vt:lpstr>
      <vt:lpstr>Office Theme</vt:lpstr>
      <vt:lpstr>MemSys: Interval Tree Powered Memory Management System</vt:lpstr>
      <vt:lpstr>Problem Statement</vt:lpstr>
      <vt:lpstr>What is an Interval Tree?</vt:lpstr>
      <vt:lpstr>Interval Overlap Condition </vt:lpstr>
      <vt:lpstr> System Architecture </vt:lpstr>
      <vt:lpstr>Backend &amp; Database Storage</vt:lpstr>
      <vt:lpstr>Project Workflow </vt:lpstr>
      <vt:lpstr>Time Complexity</vt:lpstr>
      <vt:lpstr>Features of MemSys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sreehari pradeesh</dc:creator>
  <cp:lastModifiedBy>sreehari pradeesh</cp:lastModifiedBy>
  <cp:revision>2</cp:revision>
  <dcterms:created xsi:type="dcterms:W3CDTF">2026-03-10T10:11:08Z</dcterms:created>
  <dcterms:modified xsi:type="dcterms:W3CDTF">2026-03-10T10:40:41Z</dcterms:modified>
</cp:coreProperties>
</file>